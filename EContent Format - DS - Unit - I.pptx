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019" y="159039"/>
            <a:ext cx="8598414" cy="12658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3629" y="6469481"/>
            <a:ext cx="668977" cy="1607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2333" y="251840"/>
            <a:ext cx="379793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334" y="1371092"/>
            <a:ext cx="8105775" cy="4207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80806" y="6447975"/>
            <a:ext cx="1651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programiz.com/dsa/stack" TargetMode="External"/><Relationship Id="rId3" Type="http://schemas.openxmlformats.org/officeDocument/2006/relationships/hyperlink" Target="http://www.hackerearth.com/practice/data-structures/arrays" TargetMode="External"/><Relationship Id="rId4" Type="http://schemas.openxmlformats.org/officeDocument/2006/relationships/hyperlink" Target="http://www.tutorialspoint.com/data_structures_algorithms" TargetMode="External"/><Relationship Id="rId5" Type="http://schemas.openxmlformats.org/officeDocument/2006/relationships/hyperlink" Target="https://quizizz.com/" TargetMode="External"/><Relationship Id="rId6" Type="http://schemas.openxmlformats.org/officeDocument/2006/relationships/hyperlink" Target="https://www.mentimeter.com/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253286" y="2126488"/>
          <a:ext cx="7218045" cy="419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2385"/>
                <a:gridCol w="4556760"/>
              </a:tblGrid>
              <a:tr h="527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2000" spc="-25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000" spc="-5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2000" spc="-3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Faculty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Department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dirty="0" sz="2000" spc="-9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Science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Designation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Assistant</a:t>
                      </a:r>
                      <a:r>
                        <a:rPr dirty="0" sz="20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Professor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2000" spc="-25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000" spc="-5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2000" spc="-3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Course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20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Structures</a:t>
                      </a:r>
                      <a:r>
                        <a:rPr dirty="0" sz="20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2000" spc="-1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Algorithms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-1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Semester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-25" b="1">
                          <a:latin typeface="Times New Roman"/>
                          <a:cs typeface="Times New Roman"/>
                        </a:rPr>
                        <a:t>III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dirty="0" sz="2000" spc="-4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Code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24BCS33C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-1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Batch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2024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dirty="0" sz="2000" spc="455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2000" spc="-2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dirty="0" sz="2000" spc="-6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943735"/>
                          </a:solidFill>
                          <a:latin typeface="Times New Roman"/>
                          <a:cs typeface="Times New Roman"/>
                        </a:rPr>
                        <a:t>Topic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dirty="0" sz="20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-I:</a:t>
                      </a:r>
                      <a:r>
                        <a:rPr dirty="0" sz="20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Introduction</a:t>
                      </a:r>
                      <a:r>
                        <a:rPr dirty="0" sz="20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0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20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Structures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504" y="116649"/>
            <a:ext cx="8856980" cy="810895"/>
          </a:xfrm>
          <a:prstGeom prst="rect"/>
          <a:ln w="25400">
            <a:solidFill>
              <a:srgbClr val="8063A1"/>
            </a:solidFill>
          </a:ln>
        </p:spPr>
        <p:txBody>
          <a:bodyPr wrap="square" lIns="0" tIns="1479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dirty="0"/>
              <a:t>Syllabus:</a:t>
            </a:r>
            <a:r>
              <a:rPr dirty="0" spc="-25"/>
              <a:t> </a:t>
            </a:r>
            <a:r>
              <a:rPr dirty="0"/>
              <a:t>Unit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 spc="-50"/>
              <a:t>I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07504" y="1052702"/>
            <a:ext cx="8856980" cy="3888740"/>
          </a:xfrm>
          <a:custGeom>
            <a:avLst/>
            <a:gdLst/>
            <a:ahLst/>
            <a:cxnLst/>
            <a:rect l="l" t="t" r="r" b="b"/>
            <a:pathLst>
              <a:path w="8856980" h="3888740">
                <a:moveTo>
                  <a:pt x="0" y="3888486"/>
                </a:moveTo>
                <a:lnTo>
                  <a:pt x="8856980" y="3888486"/>
                </a:lnTo>
                <a:lnTo>
                  <a:pt x="8856980" y="0"/>
                </a:lnTo>
                <a:lnTo>
                  <a:pt x="0" y="0"/>
                </a:lnTo>
                <a:lnTo>
                  <a:pt x="0" y="3888486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86334" y="1009904"/>
            <a:ext cx="8703310" cy="3318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Basic</a:t>
            </a:r>
            <a:r>
              <a:rPr dirty="0" sz="2400" spc="465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Concepts:</a:t>
            </a:r>
            <a:r>
              <a:rPr dirty="0" sz="2400" spc="465" b="1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Overview:</a:t>
            </a:r>
            <a:r>
              <a:rPr dirty="0" sz="2400" spc="46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45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Life</a:t>
            </a:r>
            <a:r>
              <a:rPr dirty="0" sz="2400" spc="45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Cycle</a:t>
            </a:r>
            <a:r>
              <a:rPr dirty="0" sz="2400" spc="46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spc="459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Algorithm </a:t>
            </a:r>
            <a:r>
              <a:rPr dirty="0" sz="2400">
                <a:latin typeface="Times New Roman"/>
                <a:cs typeface="Times New Roman"/>
              </a:rPr>
              <a:t>Specification: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Introduction-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Performance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Analysis: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Space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Complexity- </a:t>
            </a:r>
            <a:r>
              <a:rPr dirty="0" sz="2400">
                <a:latin typeface="Times New Roman"/>
                <a:cs typeface="Times New Roman"/>
              </a:rPr>
              <a:t>Time</a:t>
            </a:r>
            <a:r>
              <a:rPr dirty="0" sz="2400" spc="300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Complexity-</a:t>
            </a:r>
            <a:r>
              <a:rPr dirty="0" sz="2400">
                <a:latin typeface="Times New Roman"/>
                <a:cs typeface="Times New Roman"/>
              </a:rPr>
              <a:t>Asymptotic</a:t>
            </a:r>
            <a:r>
              <a:rPr dirty="0" sz="2400" spc="30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Notation</a:t>
            </a:r>
            <a:r>
              <a:rPr dirty="0" sz="2400" spc="30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spc="295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Arrays:</a:t>
            </a:r>
            <a:r>
              <a:rPr dirty="0" sz="2400" spc="295" b="1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95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Abstract </a:t>
            </a:r>
            <a:r>
              <a:rPr dirty="0" sz="2400">
                <a:latin typeface="Times New Roman"/>
                <a:cs typeface="Times New Roman"/>
              </a:rPr>
              <a:t>Datatype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3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Sparse</a:t>
            </a:r>
            <a:r>
              <a:rPr dirty="0" sz="2400" spc="4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Matrices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3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Abstract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Datatype-</a:t>
            </a:r>
            <a:r>
              <a:rPr dirty="0" sz="2400">
                <a:latin typeface="Times New Roman"/>
                <a:cs typeface="Times New Roman"/>
              </a:rPr>
              <a:t>Sparse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Matrix </a:t>
            </a:r>
            <a:r>
              <a:rPr dirty="0" sz="2400">
                <a:latin typeface="Times New Roman"/>
                <a:cs typeface="Times New Roman"/>
              </a:rPr>
              <a:t>Representation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 Transposing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Matrix.  </a:t>
            </a:r>
            <a:r>
              <a:rPr dirty="0" sz="2400" b="1">
                <a:latin typeface="Times New Roman"/>
                <a:cs typeface="Times New Roman"/>
              </a:rPr>
              <a:t>Stacks</a:t>
            </a:r>
            <a:r>
              <a:rPr dirty="0" sz="2400" spc="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Queues: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Stacks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– </a:t>
            </a:r>
            <a:r>
              <a:rPr dirty="0" sz="2400">
                <a:latin typeface="Times New Roman"/>
                <a:cs typeface="Times New Roman"/>
              </a:rPr>
              <a:t>Queues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Evaluation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Expression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Multiple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Stacks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Queues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504" y="116649"/>
            <a:ext cx="8856980" cy="810895"/>
          </a:xfrm>
          <a:prstGeom prst="rect"/>
          <a:ln w="25400">
            <a:solidFill>
              <a:srgbClr val="8063A1"/>
            </a:solidFill>
          </a:ln>
        </p:spPr>
        <p:txBody>
          <a:bodyPr wrap="square" lIns="0" tIns="1479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07504" y="1052791"/>
            <a:ext cx="8856980" cy="5256530"/>
          </a:xfrm>
          <a:custGeom>
            <a:avLst/>
            <a:gdLst/>
            <a:ahLst/>
            <a:cxnLst/>
            <a:rect l="l" t="t" r="r" b="b"/>
            <a:pathLst>
              <a:path w="8856980" h="5256530">
                <a:moveTo>
                  <a:pt x="0" y="5256530"/>
                </a:moveTo>
                <a:lnTo>
                  <a:pt x="8856980" y="5256530"/>
                </a:lnTo>
                <a:lnTo>
                  <a:pt x="8856980" y="0"/>
                </a:lnTo>
                <a:lnTo>
                  <a:pt x="0" y="0"/>
                </a:lnTo>
                <a:lnTo>
                  <a:pt x="0" y="5256530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86334" y="1075435"/>
            <a:ext cx="8703310" cy="156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8255" indent="-342900">
              <a:lnSpc>
                <a:spcPct val="100000"/>
              </a:lnSpc>
              <a:spcBef>
                <a:spcPts val="100"/>
              </a:spcBef>
              <a:buClr>
                <a:srgbClr val="943735"/>
              </a:buClr>
              <a:buFont typeface="Arial MT"/>
              <a:buChar char="•"/>
              <a:tabLst>
                <a:tab pos="354965" algn="l"/>
                <a:tab pos="723900" algn="l"/>
                <a:tab pos="1398905" algn="l"/>
                <a:tab pos="2629535" algn="l"/>
                <a:tab pos="2999740" algn="l"/>
                <a:tab pos="3300095" algn="l"/>
                <a:tab pos="3973829" algn="l"/>
                <a:tab pos="4392930" algn="l"/>
                <a:tab pos="5857875" algn="l"/>
                <a:tab pos="6463030" algn="l"/>
                <a:tab pos="7476490" algn="l"/>
                <a:tab pos="8148955" algn="l"/>
                <a:tab pos="8550910" algn="l"/>
              </a:tabLst>
            </a:pPr>
            <a:r>
              <a:rPr dirty="0" sz="2400" spc="-5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data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structure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is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way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organizing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and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storing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data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in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>
                <a:latin typeface="Times New Roman"/>
                <a:cs typeface="Times New Roman"/>
              </a:rPr>
              <a:t>computer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accessed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efficiently.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Clr>
                <a:srgbClr val="943735"/>
              </a:buClr>
              <a:buFont typeface="Arial MT"/>
              <a:buChar char="•"/>
              <a:tabLst>
                <a:tab pos="354965" algn="l"/>
                <a:tab pos="673735" algn="l"/>
                <a:tab pos="1497330" algn="l"/>
                <a:tab pos="1864360" algn="l"/>
                <a:tab pos="2367280" algn="l"/>
                <a:tab pos="3326129" algn="l"/>
                <a:tab pos="3711575" algn="l"/>
                <a:tab pos="5479415" algn="l"/>
                <a:tab pos="7336155" algn="l"/>
                <a:tab pos="7720330" algn="l"/>
                <a:tab pos="8435340" algn="l"/>
              </a:tabLst>
            </a:pPr>
            <a:r>
              <a:rPr dirty="0" sz="2400" spc="-25">
                <a:latin typeface="Times New Roman"/>
                <a:cs typeface="Times New Roman"/>
              </a:rPr>
              <a:t>It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refers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to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logical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or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mathematical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representation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data,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as </a:t>
            </a:r>
            <a:r>
              <a:rPr dirty="0" sz="2400">
                <a:latin typeface="Times New Roman"/>
                <a:cs typeface="Times New Roman"/>
              </a:rPr>
              <a:t>well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implementation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computer</a:t>
            </a:r>
            <a:r>
              <a:rPr dirty="0" sz="2400" spc="-10">
                <a:latin typeface="Times New Roman"/>
                <a:cs typeface="Times New Roman"/>
              </a:rPr>
              <a:t> program.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975" y="2636862"/>
            <a:ext cx="8656574" cy="367245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504" y="116649"/>
            <a:ext cx="8929370" cy="810895"/>
          </a:xfrm>
          <a:custGeom>
            <a:avLst/>
            <a:gdLst/>
            <a:ahLst/>
            <a:cxnLst/>
            <a:rect l="l" t="t" r="r" b="b"/>
            <a:pathLst>
              <a:path w="8929370" h="810894">
                <a:moveTo>
                  <a:pt x="0" y="810577"/>
                </a:moveTo>
                <a:lnTo>
                  <a:pt x="8928989" y="810577"/>
                </a:lnTo>
                <a:lnTo>
                  <a:pt x="8928989" y="0"/>
                </a:lnTo>
                <a:lnTo>
                  <a:pt x="0" y="0"/>
                </a:lnTo>
                <a:lnTo>
                  <a:pt x="0" y="810577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/>
              <a:t>Why Data</a:t>
            </a:r>
            <a:r>
              <a:rPr dirty="0" spc="-25"/>
              <a:t> </a:t>
            </a:r>
            <a:r>
              <a:rPr dirty="0" spc="-10"/>
              <a:t>Structures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7504" y="1052791"/>
            <a:ext cx="8929370" cy="5113020"/>
          </a:xfrm>
          <a:custGeom>
            <a:avLst/>
            <a:gdLst/>
            <a:ahLst/>
            <a:cxnLst/>
            <a:rect l="l" t="t" r="r" b="b"/>
            <a:pathLst>
              <a:path w="8929370" h="5113020">
                <a:moveTo>
                  <a:pt x="0" y="5112512"/>
                </a:moveTo>
                <a:lnTo>
                  <a:pt x="8928989" y="5112512"/>
                </a:lnTo>
                <a:lnTo>
                  <a:pt x="8928989" y="0"/>
                </a:lnTo>
                <a:lnTo>
                  <a:pt x="0" y="0"/>
                </a:lnTo>
                <a:lnTo>
                  <a:pt x="0" y="511251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943735"/>
              </a:buClr>
              <a:buFont typeface="Arial MT"/>
              <a:buChar char="•"/>
              <a:tabLst>
                <a:tab pos="354965" algn="l"/>
              </a:tabLst>
            </a:pPr>
            <a:r>
              <a:rPr dirty="0"/>
              <a:t>Efficient</a:t>
            </a:r>
            <a:r>
              <a:rPr dirty="0" spc="-50"/>
              <a:t> </a:t>
            </a:r>
            <a:r>
              <a:rPr dirty="0"/>
              <a:t>Data</a:t>
            </a:r>
            <a:r>
              <a:rPr dirty="0" spc="-60"/>
              <a:t> </a:t>
            </a:r>
            <a:r>
              <a:rPr dirty="0"/>
              <a:t>Organization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0"/>
              <a:t>Management</a:t>
            </a:r>
          </a:p>
          <a:p>
            <a:pPr>
              <a:lnSpc>
                <a:spcPct val="100000"/>
              </a:lnSpc>
              <a:spcBef>
                <a:spcPts val="815"/>
              </a:spcBef>
              <a:buClr>
                <a:srgbClr val="943735"/>
              </a:buClr>
              <a:buFont typeface="Arial MT"/>
              <a:buChar char="•"/>
            </a:pPr>
          </a:p>
          <a:p>
            <a:pPr marL="354965" indent="-342265">
              <a:lnSpc>
                <a:spcPct val="100000"/>
              </a:lnSpc>
              <a:buClr>
                <a:srgbClr val="943735"/>
              </a:buClr>
              <a:buFont typeface="Arial MT"/>
              <a:buChar char="•"/>
              <a:tabLst>
                <a:tab pos="354965" algn="l"/>
              </a:tabLst>
            </a:pPr>
            <a:r>
              <a:rPr dirty="0" spc="-10"/>
              <a:t>Optimized</a:t>
            </a:r>
            <a:r>
              <a:rPr dirty="0" spc="-165"/>
              <a:t> </a:t>
            </a:r>
            <a:r>
              <a:rPr dirty="0"/>
              <a:t>Algorithms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Code</a:t>
            </a:r>
            <a:r>
              <a:rPr dirty="0" spc="-45"/>
              <a:t> </a:t>
            </a:r>
            <a:r>
              <a:rPr dirty="0" spc="-10"/>
              <a:t>Performance</a:t>
            </a:r>
          </a:p>
          <a:p>
            <a:pPr>
              <a:lnSpc>
                <a:spcPct val="100000"/>
              </a:lnSpc>
              <a:spcBef>
                <a:spcPts val="810"/>
              </a:spcBef>
              <a:buClr>
                <a:srgbClr val="943735"/>
              </a:buClr>
              <a:buFont typeface="Arial MT"/>
              <a:buChar char="•"/>
            </a:pPr>
          </a:p>
          <a:p>
            <a:pPr marL="354965" indent="-342265">
              <a:lnSpc>
                <a:spcPct val="100000"/>
              </a:lnSpc>
              <a:buClr>
                <a:srgbClr val="943735"/>
              </a:buClr>
              <a:buFont typeface="Arial MT"/>
              <a:buChar char="•"/>
              <a:tabLst>
                <a:tab pos="354965" algn="l"/>
              </a:tabLst>
            </a:pPr>
            <a:r>
              <a:rPr dirty="0"/>
              <a:t>Improved</a:t>
            </a:r>
            <a:r>
              <a:rPr dirty="0" spc="-55"/>
              <a:t> </a:t>
            </a:r>
            <a:r>
              <a:rPr dirty="0"/>
              <a:t>Code</a:t>
            </a:r>
            <a:r>
              <a:rPr dirty="0" spc="-65"/>
              <a:t> </a:t>
            </a:r>
            <a:r>
              <a:rPr dirty="0"/>
              <a:t>Understandability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90"/>
              <a:t> </a:t>
            </a:r>
            <a:r>
              <a:rPr dirty="0" spc="-10"/>
              <a:t>Maintainability</a:t>
            </a:r>
          </a:p>
          <a:p>
            <a:pPr>
              <a:lnSpc>
                <a:spcPct val="100000"/>
              </a:lnSpc>
              <a:spcBef>
                <a:spcPts val="815"/>
              </a:spcBef>
              <a:buClr>
                <a:srgbClr val="943735"/>
              </a:buClr>
              <a:buFont typeface="Arial MT"/>
              <a:buChar char="•"/>
            </a:pPr>
          </a:p>
          <a:p>
            <a:pPr marL="354965" indent="-342265">
              <a:lnSpc>
                <a:spcPct val="100000"/>
              </a:lnSpc>
              <a:buClr>
                <a:srgbClr val="943735"/>
              </a:buClr>
              <a:buFont typeface="Arial MT"/>
              <a:buChar char="•"/>
              <a:tabLst>
                <a:tab pos="354965" algn="l"/>
              </a:tabLst>
            </a:pPr>
            <a:r>
              <a:rPr dirty="0"/>
              <a:t>Facilitates</a:t>
            </a:r>
            <a:r>
              <a:rPr dirty="0" spc="-30"/>
              <a:t> </a:t>
            </a:r>
            <a:r>
              <a:rPr dirty="0"/>
              <a:t>Problem</a:t>
            </a:r>
            <a:r>
              <a:rPr dirty="0" spc="-30"/>
              <a:t> </a:t>
            </a:r>
            <a:r>
              <a:rPr dirty="0" spc="-10"/>
              <a:t>Solving</a:t>
            </a:r>
          </a:p>
          <a:p>
            <a:pPr>
              <a:lnSpc>
                <a:spcPct val="100000"/>
              </a:lnSpc>
              <a:spcBef>
                <a:spcPts val="815"/>
              </a:spcBef>
              <a:buClr>
                <a:srgbClr val="943735"/>
              </a:buClr>
              <a:buFont typeface="Arial MT"/>
              <a:buChar char="•"/>
            </a:pPr>
          </a:p>
          <a:p>
            <a:pPr marL="354965" indent="-342265">
              <a:lnSpc>
                <a:spcPct val="100000"/>
              </a:lnSpc>
              <a:buClr>
                <a:srgbClr val="943735"/>
              </a:buClr>
              <a:buFont typeface="Arial MT"/>
              <a:buChar char="•"/>
              <a:tabLst>
                <a:tab pos="354965" algn="l"/>
              </a:tabLst>
            </a:pPr>
            <a:r>
              <a:rPr dirty="0"/>
              <a:t>Enables</a:t>
            </a:r>
            <a:r>
              <a:rPr dirty="0" spc="-20"/>
              <a:t> </a:t>
            </a:r>
            <a:r>
              <a:rPr dirty="0"/>
              <a:t>Data</a:t>
            </a:r>
            <a:r>
              <a:rPr dirty="0" spc="-25"/>
              <a:t> </a:t>
            </a:r>
            <a:r>
              <a:rPr dirty="0"/>
              <a:t>Retrieval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0"/>
              <a:t>Manipulation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r>
              <a:rPr dirty="0" spc="-5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504" y="116649"/>
            <a:ext cx="8929370" cy="810895"/>
          </a:xfrm>
          <a:custGeom>
            <a:avLst/>
            <a:gdLst/>
            <a:ahLst/>
            <a:cxnLst/>
            <a:rect l="l" t="t" r="r" b="b"/>
            <a:pathLst>
              <a:path w="8929370" h="810894">
                <a:moveTo>
                  <a:pt x="0" y="810577"/>
                </a:moveTo>
                <a:lnTo>
                  <a:pt x="8928989" y="810577"/>
                </a:lnTo>
                <a:lnTo>
                  <a:pt x="8928989" y="0"/>
                </a:lnTo>
                <a:lnTo>
                  <a:pt x="0" y="0"/>
                </a:lnTo>
                <a:lnTo>
                  <a:pt x="0" y="810577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884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Arrays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8607" y="1052791"/>
            <a:ext cx="8929370" cy="5256530"/>
          </a:xfrm>
          <a:custGeom>
            <a:avLst/>
            <a:gdLst/>
            <a:ahLst/>
            <a:cxnLst/>
            <a:rect l="l" t="t" r="r" b="b"/>
            <a:pathLst>
              <a:path w="8929370" h="5256530">
                <a:moveTo>
                  <a:pt x="0" y="5256530"/>
                </a:moveTo>
                <a:lnTo>
                  <a:pt x="8928989" y="5256530"/>
                </a:lnTo>
                <a:lnTo>
                  <a:pt x="8928989" y="0"/>
                </a:lnTo>
                <a:lnTo>
                  <a:pt x="0" y="0"/>
                </a:lnTo>
                <a:lnTo>
                  <a:pt x="0" y="5256530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87248" y="1073911"/>
            <a:ext cx="8775700" cy="2236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3695" marR="5080" indent="-341630">
              <a:lnSpc>
                <a:spcPct val="100000"/>
              </a:lnSpc>
              <a:spcBef>
                <a:spcPts val="95"/>
              </a:spcBef>
              <a:buClr>
                <a:srgbClr val="943735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An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array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fundamental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linear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structure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stores </a:t>
            </a:r>
            <a:r>
              <a:rPr dirty="0" sz="2800" spc="-50">
                <a:latin typeface="Times New Roman"/>
                <a:cs typeface="Times New Roman"/>
              </a:rPr>
              <a:t>a </a:t>
            </a:r>
            <a:r>
              <a:rPr dirty="0" sz="2800" spc="-5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collection</a:t>
            </a:r>
            <a:r>
              <a:rPr dirty="0" sz="2800" spc="1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elements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1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same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1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type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contiguous </a:t>
            </a:r>
            <a:r>
              <a:rPr dirty="0" sz="2800" spc="-1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memory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locations</a:t>
            </a:r>
            <a:endParaRPr sz="2800">
              <a:latin typeface="Times New Roman"/>
              <a:cs typeface="Times New Roman"/>
            </a:endParaRPr>
          </a:p>
          <a:p>
            <a:pPr algn="just" marL="353695" marR="5080" indent="-341630">
              <a:lnSpc>
                <a:spcPts val="3300"/>
              </a:lnSpc>
              <a:spcBef>
                <a:spcPts val="835"/>
              </a:spcBef>
              <a:buClr>
                <a:srgbClr val="943735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Each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element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array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can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accessed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directly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its </a:t>
            </a:r>
            <a:r>
              <a:rPr dirty="0" sz="2800" spc="-25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index,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starting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from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0.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64" y="3646277"/>
            <a:ext cx="8121028" cy="2344299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r>
              <a:rPr dirty="0" spc="-5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504" y="116649"/>
            <a:ext cx="8929370" cy="810895"/>
          </a:xfrm>
          <a:custGeom>
            <a:avLst/>
            <a:gdLst/>
            <a:ahLst/>
            <a:cxnLst/>
            <a:rect l="l" t="t" r="r" b="b"/>
            <a:pathLst>
              <a:path w="8929370" h="810894">
                <a:moveTo>
                  <a:pt x="0" y="810577"/>
                </a:moveTo>
                <a:lnTo>
                  <a:pt x="8928989" y="810577"/>
                </a:lnTo>
                <a:lnTo>
                  <a:pt x="8928989" y="0"/>
                </a:lnTo>
                <a:lnTo>
                  <a:pt x="0" y="0"/>
                </a:lnTo>
                <a:lnTo>
                  <a:pt x="0" y="810577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185"/>
              <a:t> </a:t>
            </a:r>
            <a:r>
              <a:rPr dirty="0" spc="-10"/>
              <a:t>Arrays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8607" y="1052791"/>
            <a:ext cx="8929370" cy="5400675"/>
          </a:xfrm>
          <a:custGeom>
            <a:avLst/>
            <a:gdLst/>
            <a:ahLst/>
            <a:cxnLst/>
            <a:rect l="l" t="t" r="r" b="b"/>
            <a:pathLst>
              <a:path w="8929370" h="5400675">
                <a:moveTo>
                  <a:pt x="0" y="5400548"/>
                </a:moveTo>
                <a:lnTo>
                  <a:pt x="8928989" y="5400548"/>
                </a:lnTo>
                <a:lnTo>
                  <a:pt x="8928989" y="0"/>
                </a:lnTo>
                <a:lnTo>
                  <a:pt x="0" y="0"/>
                </a:lnTo>
                <a:lnTo>
                  <a:pt x="0" y="5400548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87248" y="1073911"/>
            <a:ext cx="63315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943735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Storing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Storing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Databases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7248" y="3032267"/>
            <a:ext cx="8753475" cy="127825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5"/>
              </a:spcBef>
              <a:buClr>
                <a:srgbClr val="943735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Image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Processing</a:t>
            </a:r>
            <a:endParaRPr sz="28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509"/>
              </a:spcBef>
            </a:pPr>
            <a:r>
              <a:rPr dirty="0" sz="2000">
                <a:latin typeface="Times New Roman"/>
                <a:cs typeface="Times New Roman"/>
              </a:rPr>
              <a:t>Image 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two-dimensional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array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pixel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484"/>
              </a:spcBef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value,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manipulated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array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operations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pixels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115618" y="2492933"/>
            <a:ext cx="3313429" cy="695960"/>
          </a:xfrm>
          <a:custGeom>
            <a:avLst/>
            <a:gdLst/>
            <a:ahLst/>
            <a:cxnLst/>
            <a:rect l="l" t="t" r="r" b="b"/>
            <a:pathLst>
              <a:path w="3313429" h="695960">
                <a:moveTo>
                  <a:pt x="3313049" y="0"/>
                </a:moveTo>
                <a:lnTo>
                  <a:pt x="0" y="0"/>
                </a:lnTo>
                <a:lnTo>
                  <a:pt x="0" y="695909"/>
                </a:lnTo>
                <a:lnTo>
                  <a:pt x="3313049" y="695909"/>
                </a:lnTo>
                <a:lnTo>
                  <a:pt x="33130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114031" y="1627187"/>
          <a:ext cx="7280275" cy="1558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2795"/>
                <a:gridCol w="3887470"/>
              </a:tblGrid>
              <a:tr h="403225">
                <a:tc>
                  <a:txBody>
                    <a:bodyPr/>
                    <a:lstStyle/>
                    <a:p>
                      <a:pPr marL="1091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Array</a:t>
                      </a:r>
                      <a:r>
                        <a:rPr dirty="0" sz="18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Type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12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Example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Usage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Dimensional</a:t>
                      </a:r>
                      <a:r>
                        <a:rPr dirty="0" sz="180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Arrays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7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Storing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names.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7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Dimensional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Arrays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8102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Storing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details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columns.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622" y="4437088"/>
            <a:ext cx="3888486" cy="1800225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r>
              <a:rPr dirty="0" spc="-5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504" y="116649"/>
            <a:ext cx="8929370" cy="810895"/>
          </a:xfrm>
          <a:custGeom>
            <a:avLst/>
            <a:gdLst/>
            <a:ahLst/>
            <a:cxnLst/>
            <a:rect l="l" t="t" r="r" b="b"/>
            <a:pathLst>
              <a:path w="8929370" h="810894">
                <a:moveTo>
                  <a:pt x="0" y="810577"/>
                </a:moveTo>
                <a:lnTo>
                  <a:pt x="8928989" y="810577"/>
                </a:lnTo>
                <a:lnTo>
                  <a:pt x="8928989" y="0"/>
                </a:lnTo>
                <a:lnTo>
                  <a:pt x="0" y="0"/>
                </a:lnTo>
                <a:lnTo>
                  <a:pt x="0" y="810577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341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Stacks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5826" y="1071892"/>
            <a:ext cx="8929370" cy="5256530"/>
          </a:xfrm>
          <a:custGeom>
            <a:avLst/>
            <a:gdLst/>
            <a:ahLst/>
            <a:cxnLst/>
            <a:rect l="l" t="t" r="r" b="b"/>
            <a:pathLst>
              <a:path w="8929370" h="5256530">
                <a:moveTo>
                  <a:pt x="0" y="5256530"/>
                </a:moveTo>
                <a:lnTo>
                  <a:pt x="8928989" y="5256530"/>
                </a:lnTo>
                <a:lnTo>
                  <a:pt x="8928989" y="0"/>
                </a:lnTo>
                <a:lnTo>
                  <a:pt x="0" y="0"/>
                </a:lnTo>
                <a:lnTo>
                  <a:pt x="0" y="5256530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74752" y="1092835"/>
            <a:ext cx="8769985" cy="1817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943735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stack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linear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structure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1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operates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9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Last- </a:t>
            </a:r>
            <a:r>
              <a:rPr dirty="0" sz="2800">
                <a:latin typeface="Times New Roman"/>
                <a:cs typeface="Times New Roman"/>
              </a:rPr>
              <a:t>In,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First-</a:t>
            </a:r>
            <a:r>
              <a:rPr dirty="0" sz="2800">
                <a:latin typeface="Times New Roman"/>
                <a:cs typeface="Times New Roman"/>
              </a:rPr>
              <a:t>Out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(LIFO)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principle.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461645" algn="l"/>
              </a:tabLst>
            </a:pPr>
            <a:r>
              <a:rPr dirty="0" sz="2800">
                <a:solidFill>
                  <a:srgbClr val="943735"/>
                </a:solidFill>
                <a:latin typeface="Arial MT"/>
                <a:cs typeface="Arial MT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This</a:t>
            </a:r>
            <a:r>
              <a:rPr dirty="0" sz="2800" spc="1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means</a:t>
            </a:r>
            <a:r>
              <a:rPr dirty="0" sz="2800" spc="1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last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element</a:t>
            </a:r>
            <a:r>
              <a:rPr dirty="0" sz="2800" spc="1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added</a:t>
            </a:r>
            <a:r>
              <a:rPr dirty="0" sz="2800" spc="1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1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stack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first </a:t>
            </a:r>
            <a:r>
              <a:rPr dirty="0" sz="2800">
                <a:latin typeface="Times New Roman"/>
                <a:cs typeface="Times New Roman"/>
              </a:rPr>
              <a:t>one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removed.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94841" y="2708871"/>
            <a:ext cx="8298180" cy="3456940"/>
            <a:chOff x="594841" y="2708871"/>
            <a:chExt cx="8298180" cy="345694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841" y="4109819"/>
              <a:ext cx="2754439" cy="191120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891" y="2708871"/>
              <a:ext cx="5184521" cy="3456432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228600" y="3097250"/>
            <a:ext cx="3312795" cy="646430"/>
          </a:xfrm>
          <a:prstGeom prst="rect">
            <a:avLst/>
          </a:prstGeom>
          <a:ln w="9525">
            <a:solidFill>
              <a:srgbClr val="001F5F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1108075" marR="177800" indent="-927100">
              <a:lnSpc>
                <a:spcPct val="100000"/>
              </a:lnSpc>
              <a:spcBef>
                <a:spcPts val="305"/>
              </a:spcBef>
            </a:pPr>
            <a:r>
              <a:rPr dirty="0" sz="1800">
                <a:latin typeface="Times New Roman"/>
                <a:cs typeface="Times New Roman"/>
              </a:rPr>
              <a:t>Stack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representation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similar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a </a:t>
            </a:r>
            <a:r>
              <a:rPr dirty="0" sz="1800">
                <a:latin typeface="Times New Roman"/>
                <a:cs typeface="Times New Roman"/>
              </a:rPr>
              <a:t>pile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plate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r>
              <a:rPr dirty="0" spc="-5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504" y="116649"/>
            <a:ext cx="8929370" cy="810895"/>
          </a:xfrm>
          <a:custGeom>
            <a:avLst/>
            <a:gdLst/>
            <a:ahLst/>
            <a:cxnLst/>
            <a:rect l="l" t="t" r="r" b="b"/>
            <a:pathLst>
              <a:path w="8929370" h="810894">
                <a:moveTo>
                  <a:pt x="0" y="810577"/>
                </a:moveTo>
                <a:lnTo>
                  <a:pt x="8928989" y="810577"/>
                </a:lnTo>
                <a:lnTo>
                  <a:pt x="8928989" y="0"/>
                </a:lnTo>
                <a:lnTo>
                  <a:pt x="0" y="0"/>
                </a:lnTo>
                <a:lnTo>
                  <a:pt x="0" y="810577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Applications</a:t>
            </a:r>
            <a:r>
              <a:rPr dirty="0" spc="-40"/>
              <a:t> </a:t>
            </a:r>
            <a:r>
              <a:rPr dirty="0"/>
              <a:t>of </a:t>
            </a:r>
            <a:r>
              <a:rPr dirty="0" spc="-10"/>
              <a:t>Stack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5826" y="1071892"/>
            <a:ext cx="8929370" cy="5256530"/>
          </a:xfrm>
          <a:custGeom>
            <a:avLst/>
            <a:gdLst/>
            <a:ahLst/>
            <a:cxnLst/>
            <a:rect l="l" t="t" r="r" b="b"/>
            <a:pathLst>
              <a:path w="8929370" h="5256530">
                <a:moveTo>
                  <a:pt x="0" y="5256530"/>
                </a:moveTo>
                <a:lnTo>
                  <a:pt x="8928989" y="5256530"/>
                </a:lnTo>
                <a:lnTo>
                  <a:pt x="8928989" y="0"/>
                </a:lnTo>
                <a:lnTo>
                  <a:pt x="0" y="0"/>
                </a:lnTo>
                <a:lnTo>
                  <a:pt x="0" y="5256530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74752" y="1533525"/>
            <a:ext cx="8774430" cy="3976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0"/>
              </a:spcBef>
              <a:buClr>
                <a:srgbClr val="622422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Undo</a:t>
            </a:r>
            <a:r>
              <a:rPr dirty="0" sz="2400" spc="2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</a:t>
            </a:r>
            <a:r>
              <a:rPr dirty="0" sz="2400" spc="2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apps:</a:t>
            </a:r>
            <a:r>
              <a:rPr dirty="0" sz="2400" spc="27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Editing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text</a:t>
            </a:r>
            <a:r>
              <a:rPr dirty="0" sz="2400" spc="2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images?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change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2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added</a:t>
            </a:r>
            <a:r>
              <a:rPr dirty="0" sz="2400" spc="2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>
                <a:latin typeface="Times New Roman"/>
                <a:cs typeface="Times New Roman"/>
              </a:rPr>
              <a:t>stack.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Undo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removes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last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change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first.</a:t>
            </a:r>
            <a:endParaRPr sz="2400">
              <a:latin typeface="Times New Roman"/>
              <a:cs typeface="Times New Roman"/>
            </a:endParaRPr>
          </a:p>
          <a:p>
            <a:pPr marL="355600" marR="7620" indent="-342900">
              <a:lnSpc>
                <a:spcPct val="100000"/>
              </a:lnSpc>
              <a:spcBef>
                <a:spcPts val="575"/>
              </a:spcBef>
              <a:buClr>
                <a:srgbClr val="622422"/>
              </a:buClr>
              <a:buFont typeface="Arial MT"/>
              <a:buChar char="•"/>
              <a:tabLst>
                <a:tab pos="355600" algn="l"/>
                <a:tab pos="1600200" algn="l"/>
                <a:tab pos="2775585" algn="l"/>
                <a:tab pos="3658235" algn="l"/>
                <a:tab pos="4391660" algn="l"/>
                <a:tab pos="5003800" algn="l"/>
                <a:tab pos="5685155" algn="l"/>
                <a:tab pos="6046470" algn="l"/>
                <a:tab pos="7066280" algn="l"/>
                <a:tab pos="7764145" algn="l"/>
                <a:tab pos="8055609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Browser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history: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Every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page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you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visit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is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pushed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onto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stack. </a:t>
            </a:r>
            <a:r>
              <a:rPr dirty="0" sz="2400">
                <a:latin typeface="Times New Roman"/>
                <a:cs typeface="Times New Roman"/>
              </a:rPr>
              <a:t>Clicking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back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pops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most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recent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page.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lr>
                <a:srgbClr val="622422"/>
              </a:buClr>
              <a:buFont typeface="Arial MT"/>
              <a:buChar char="•"/>
              <a:tabLst>
                <a:tab pos="355600" algn="l"/>
                <a:tab pos="1668780" algn="l"/>
                <a:tab pos="2388235" algn="l"/>
                <a:tab pos="2787650" algn="l"/>
                <a:tab pos="4839335" algn="l"/>
                <a:tab pos="6202045" algn="l"/>
                <a:tab pos="7482205" algn="l"/>
                <a:tab pos="8201659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Function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20" b="1">
                <a:latin typeface="Times New Roman"/>
                <a:cs typeface="Times New Roman"/>
              </a:rPr>
              <a:t>calls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25" b="1">
                <a:latin typeface="Times New Roman"/>
                <a:cs typeface="Times New Roman"/>
              </a:rPr>
              <a:t>in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programming: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Recursive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functions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push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each </a:t>
            </a:r>
            <a:r>
              <a:rPr dirty="0" sz="2400">
                <a:latin typeface="Times New Roman"/>
                <a:cs typeface="Times New Roman"/>
              </a:rPr>
              <a:t>call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onto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stack,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returning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step-</a:t>
            </a:r>
            <a:r>
              <a:rPr dirty="0" sz="2400" spc="-10">
                <a:latin typeface="Times New Roman"/>
                <a:cs typeface="Times New Roman"/>
              </a:rPr>
              <a:t>by-</a:t>
            </a:r>
            <a:r>
              <a:rPr dirty="0" sz="2400">
                <a:latin typeface="Times New Roman"/>
                <a:cs typeface="Times New Roman"/>
              </a:rPr>
              <a:t>step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done.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100000"/>
              </a:lnSpc>
              <a:spcBef>
                <a:spcPts val="575"/>
              </a:spcBef>
              <a:buClr>
                <a:srgbClr val="622422"/>
              </a:buClr>
              <a:buFont typeface="Arial MT"/>
              <a:buChar char="•"/>
              <a:tabLst>
                <a:tab pos="355600" algn="l"/>
                <a:tab pos="1386840" algn="l"/>
                <a:tab pos="2927985" algn="l"/>
                <a:tab pos="4229735" algn="l"/>
                <a:tab pos="4549775" algn="l"/>
                <a:tab pos="5700395" algn="l"/>
                <a:tab pos="6089015" algn="l"/>
                <a:tab pos="7645400" algn="l"/>
                <a:tab pos="8522335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Syntax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validation: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Checking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if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brackets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or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parentheses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match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in </a:t>
            </a:r>
            <a:r>
              <a:rPr dirty="0" sz="2400">
                <a:latin typeface="Times New Roman"/>
                <a:cs typeface="Times New Roman"/>
              </a:rPr>
              <a:t>code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relies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 a stack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track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openings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closings.</a:t>
            </a:r>
            <a:endParaRPr sz="2400">
              <a:latin typeface="Times New Roman"/>
              <a:cs typeface="Times New Roman"/>
            </a:endParaRPr>
          </a:p>
          <a:p>
            <a:pPr marL="355600" marR="6985" indent="-342900">
              <a:lnSpc>
                <a:spcPct val="100000"/>
              </a:lnSpc>
              <a:spcBef>
                <a:spcPts val="580"/>
              </a:spcBef>
              <a:buClr>
                <a:srgbClr val="622422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Backtracking</a:t>
            </a:r>
            <a:r>
              <a:rPr dirty="0" sz="2400" spc="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</a:t>
            </a:r>
            <a:r>
              <a:rPr dirty="0" sz="2400" spc="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games:</a:t>
            </a:r>
            <a:r>
              <a:rPr dirty="0" sz="2400" spc="6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Games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stacks</a:t>
            </a:r>
            <a:r>
              <a:rPr dirty="0" sz="2400" spc="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track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previous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moves </a:t>
            </a:r>
            <a:r>
              <a:rPr dirty="0" sz="2400">
                <a:latin typeface="Times New Roman"/>
                <a:cs typeface="Times New Roman"/>
              </a:rPr>
              <a:t>when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exploring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mazes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puzzles.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r>
              <a:rPr dirty="0" spc="-5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504" y="116649"/>
            <a:ext cx="8929370" cy="810895"/>
          </a:xfrm>
          <a:custGeom>
            <a:avLst/>
            <a:gdLst/>
            <a:ahLst/>
            <a:cxnLst/>
            <a:rect l="l" t="t" r="r" b="b"/>
            <a:pathLst>
              <a:path w="8929370" h="810894">
                <a:moveTo>
                  <a:pt x="0" y="810577"/>
                </a:moveTo>
                <a:lnTo>
                  <a:pt x="8928989" y="810577"/>
                </a:lnTo>
                <a:lnTo>
                  <a:pt x="8928989" y="0"/>
                </a:lnTo>
                <a:lnTo>
                  <a:pt x="0" y="0"/>
                </a:lnTo>
                <a:lnTo>
                  <a:pt x="0" y="810577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07060">
              <a:lnSpc>
                <a:spcPct val="100000"/>
              </a:lnSpc>
              <a:spcBef>
                <a:spcPts val="100"/>
              </a:spcBef>
            </a:pPr>
            <a:r>
              <a:rPr dirty="0"/>
              <a:t>Question</a:t>
            </a:r>
            <a:r>
              <a:rPr dirty="0" spc="-25"/>
              <a:t> </a:t>
            </a:r>
            <a:r>
              <a:rPr dirty="0" spc="-20"/>
              <a:t>Bank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0123" y="1052791"/>
            <a:ext cx="8929370" cy="5328920"/>
          </a:xfrm>
          <a:custGeom>
            <a:avLst/>
            <a:gdLst/>
            <a:ahLst/>
            <a:cxnLst/>
            <a:rect l="l" t="t" r="r" b="b"/>
            <a:pathLst>
              <a:path w="8929370" h="5328920">
                <a:moveTo>
                  <a:pt x="0" y="5328539"/>
                </a:moveTo>
                <a:lnTo>
                  <a:pt x="8928989" y="5328539"/>
                </a:lnTo>
                <a:lnTo>
                  <a:pt x="8928989" y="0"/>
                </a:lnTo>
                <a:lnTo>
                  <a:pt x="0" y="0"/>
                </a:lnTo>
                <a:lnTo>
                  <a:pt x="0" y="532853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68960" y="1037945"/>
            <a:ext cx="8246745" cy="51047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977004">
              <a:lnSpc>
                <a:spcPct val="100000"/>
              </a:lnSpc>
              <a:spcBef>
                <a:spcPts val="434"/>
              </a:spcBef>
            </a:pPr>
            <a:r>
              <a:rPr dirty="0" sz="1400" b="1">
                <a:latin typeface="Times New Roman"/>
                <a:cs typeface="Times New Roman"/>
              </a:rPr>
              <a:t>Section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-</a:t>
            </a:r>
            <a:r>
              <a:rPr dirty="0" sz="1400" spc="-90" b="1">
                <a:latin typeface="Times New Roman"/>
                <a:cs typeface="Times New Roman"/>
              </a:rPr>
              <a:t> </a:t>
            </a:r>
            <a:r>
              <a:rPr dirty="0" sz="1400" spc="-60" b="1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imes New Roman"/>
                <a:cs typeface="Times New Roman"/>
              </a:rPr>
              <a:t>1.Which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following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statement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array?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imes New Roman"/>
                <a:cs typeface="Times New Roman"/>
              </a:rPr>
              <a:t>a)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size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array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fixed.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b)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size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array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dynamic.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c)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Random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possible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array.</a:t>
            </a: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d)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None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these</a:t>
            </a:r>
            <a:endParaRPr sz="1400">
              <a:latin typeface="Times New Roman"/>
              <a:cs typeface="Times New Roman"/>
            </a:endParaRPr>
          </a:p>
          <a:p>
            <a:pPr marL="186690" indent="-173990">
              <a:lnSpc>
                <a:spcPct val="100000"/>
              </a:lnSpc>
              <a:spcBef>
                <a:spcPts val="335"/>
              </a:spcBef>
              <a:buAutoNum type="arabicPeriod" startAt="2"/>
              <a:tabLst>
                <a:tab pos="186690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structure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expression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contains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balanced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parenthesis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is?</a:t>
            </a:r>
            <a:endParaRPr sz="1400">
              <a:latin typeface="Times New Roman"/>
              <a:cs typeface="Times New Roman"/>
            </a:endParaRPr>
          </a:p>
          <a:p>
            <a:pPr lvl="1" marL="417830" indent="-182880">
              <a:lnSpc>
                <a:spcPct val="100000"/>
              </a:lnSpc>
              <a:spcBef>
                <a:spcPts val="340"/>
              </a:spcBef>
              <a:buAutoNum type="alphaLcParenR"/>
              <a:tabLst>
                <a:tab pos="417830" algn="l"/>
              </a:tabLst>
            </a:pPr>
            <a:r>
              <a:rPr dirty="0" sz="1400">
                <a:latin typeface="Times New Roman"/>
                <a:cs typeface="Times New Roman"/>
              </a:rPr>
              <a:t>Stack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Queue c)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Array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d)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Tree</a:t>
            </a:r>
            <a:endParaRPr sz="1400">
              <a:latin typeface="Times New Roman"/>
              <a:cs typeface="Times New Roman"/>
            </a:endParaRPr>
          </a:p>
          <a:p>
            <a:pPr marL="222885" indent="-210185">
              <a:lnSpc>
                <a:spcPct val="100000"/>
              </a:lnSpc>
              <a:spcBef>
                <a:spcPts val="335"/>
              </a:spcBef>
              <a:buAutoNum type="arabicPeriod" startAt="2"/>
              <a:tabLst>
                <a:tab pos="222885" algn="l"/>
                <a:tab pos="2337435" algn="l"/>
              </a:tabLst>
            </a:pP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Stack follows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u="sng" sz="14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 Principle</a:t>
            </a:r>
            <a:endParaRPr sz="1400">
              <a:latin typeface="Times New Roman"/>
              <a:cs typeface="Times New Roman"/>
            </a:endParaRPr>
          </a:p>
          <a:p>
            <a:pPr lvl="1" marL="417830" indent="-182880">
              <a:lnSpc>
                <a:spcPct val="100000"/>
              </a:lnSpc>
              <a:spcBef>
                <a:spcPts val="335"/>
              </a:spcBef>
              <a:buAutoNum type="alphaLcParenR"/>
              <a:tabLst>
                <a:tab pos="417830" algn="l"/>
              </a:tabLst>
            </a:pPr>
            <a:r>
              <a:rPr dirty="0" sz="1400">
                <a:latin typeface="Times New Roman"/>
                <a:cs typeface="Times New Roman"/>
              </a:rPr>
              <a:t>FIFO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(First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First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Out)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b)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LIFO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(Last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First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Out)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c)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Ordered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array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Linear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tree</a:t>
            </a:r>
            <a:endParaRPr sz="1400">
              <a:latin typeface="Times New Roman"/>
              <a:cs typeface="Times New Roman"/>
            </a:endParaRPr>
          </a:p>
          <a:p>
            <a:pPr marL="186690" indent="-173990">
              <a:lnSpc>
                <a:spcPct val="100000"/>
              </a:lnSpc>
              <a:spcBef>
                <a:spcPts val="340"/>
              </a:spcBef>
              <a:buAutoNum type="arabicPeriod" startAt="2"/>
              <a:tabLst>
                <a:tab pos="186690" algn="l"/>
              </a:tabLst>
            </a:pP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structure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recursion?</a:t>
            </a:r>
            <a:endParaRPr sz="1400">
              <a:latin typeface="Times New Roman"/>
              <a:cs typeface="Times New Roman"/>
            </a:endParaRPr>
          </a:p>
          <a:p>
            <a:pPr lvl="1" marL="417830" indent="-182880">
              <a:lnSpc>
                <a:spcPct val="100000"/>
              </a:lnSpc>
              <a:spcBef>
                <a:spcPts val="335"/>
              </a:spcBef>
              <a:buAutoNum type="alphaLcParenR"/>
              <a:tabLst>
                <a:tab pos="417830" algn="l"/>
              </a:tabLst>
            </a:pPr>
            <a:r>
              <a:rPr dirty="0" sz="1400">
                <a:latin typeface="Times New Roman"/>
                <a:cs typeface="Times New Roman"/>
              </a:rPr>
              <a:t>Queue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Stack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c)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Array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d)</a:t>
            </a:r>
            <a:r>
              <a:rPr dirty="0" sz="1400" spc="-20">
                <a:latin typeface="Times New Roman"/>
                <a:cs typeface="Times New Roman"/>
              </a:rPr>
              <a:t> List</a:t>
            </a:r>
            <a:endParaRPr sz="1400">
              <a:latin typeface="Times New Roman"/>
              <a:cs typeface="Times New Roman"/>
            </a:endParaRPr>
          </a:p>
          <a:p>
            <a:pPr marL="186690" indent="-173990">
              <a:lnSpc>
                <a:spcPct val="100000"/>
              </a:lnSpc>
              <a:spcBef>
                <a:spcPts val="335"/>
              </a:spcBef>
              <a:buAutoNum type="arabicPeriod" startAt="2"/>
              <a:tabLst>
                <a:tab pos="186690" algn="l"/>
              </a:tabLst>
            </a:pP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following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linear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Structure</a:t>
            </a:r>
            <a:endParaRPr sz="1400">
              <a:latin typeface="Times New Roman"/>
              <a:cs typeface="Times New Roman"/>
            </a:endParaRPr>
          </a:p>
          <a:p>
            <a:pPr lvl="1" marL="406400" indent="-171450">
              <a:lnSpc>
                <a:spcPct val="100000"/>
              </a:lnSpc>
              <a:spcBef>
                <a:spcPts val="335"/>
              </a:spcBef>
              <a:buAutoNum type="alphaLcParenR"/>
              <a:tabLst>
                <a:tab pos="406400" algn="l"/>
              </a:tabLst>
            </a:pPr>
            <a:r>
              <a:rPr dirty="0" sz="1400">
                <a:latin typeface="Times New Roman"/>
                <a:cs typeface="Times New Roman"/>
              </a:rPr>
              <a:t>Arrays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b)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Linked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Lists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c)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Stack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d)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the</a:t>
            </a:r>
            <a:r>
              <a:rPr dirty="0" sz="1400" spc="-1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Above</a:t>
            </a:r>
            <a:endParaRPr sz="1400">
              <a:latin typeface="Times New Roman"/>
              <a:cs typeface="Times New Roman"/>
            </a:endParaRPr>
          </a:p>
          <a:p>
            <a:pPr marL="3961765">
              <a:lnSpc>
                <a:spcPct val="100000"/>
              </a:lnSpc>
              <a:spcBef>
                <a:spcPts val="340"/>
              </a:spcBef>
            </a:pPr>
            <a:r>
              <a:rPr dirty="0" sz="1400" b="1">
                <a:latin typeface="Times New Roman"/>
                <a:cs typeface="Times New Roman"/>
              </a:rPr>
              <a:t>Section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190500" algn="l"/>
              </a:tabLst>
            </a:pPr>
            <a:r>
              <a:rPr dirty="0" sz="1400">
                <a:latin typeface="Times New Roman"/>
                <a:cs typeface="Times New Roman"/>
              </a:rPr>
              <a:t>Differentiate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between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Linear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Linear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Structures</a:t>
            </a:r>
            <a:endParaRPr sz="140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190500" algn="l"/>
              </a:tabLst>
            </a:pPr>
            <a:r>
              <a:rPr dirty="0" sz="1400">
                <a:latin typeface="Times New Roman"/>
                <a:cs typeface="Times New Roman"/>
              </a:rPr>
              <a:t>Explain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array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Stack</a:t>
            </a:r>
            <a:endParaRPr sz="140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190500" algn="l"/>
              </a:tabLst>
            </a:pPr>
            <a:r>
              <a:rPr dirty="0" sz="1400">
                <a:latin typeface="Times New Roman"/>
                <a:cs typeface="Times New Roman"/>
              </a:rPr>
              <a:t>Describe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Stack</a:t>
            </a:r>
            <a:r>
              <a:rPr dirty="0" sz="1400" spc="-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detail</a:t>
            </a:r>
            <a:endParaRPr sz="1400">
              <a:latin typeface="Times New Roman"/>
              <a:cs typeface="Times New Roman"/>
            </a:endParaRPr>
          </a:p>
          <a:p>
            <a:pPr marL="3957320">
              <a:lnSpc>
                <a:spcPct val="100000"/>
              </a:lnSpc>
              <a:spcBef>
                <a:spcPts val="335"/>
              </a:spcBef>
            </a:pPr>
            <a:r>
              <a:rPr dirty="0" sz="1400" b="1">
                <a:latin typeface="Times New Roman"/>
                <a:cs typeface="Times New Roman"/>
              </a:rPr>
              <a:t>Section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190500" algn="l"/>
              </a:tabLst>
            </a:pPr>
            <a:r>
              <a:rPr dirty="0" sz="1400">
                <a:latin typeface="Times New Roman"/>
                <a:cs typeface="Times New Roman"/>
              </a:rPr>
              <a:t>Develop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Show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simulation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stack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following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expression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: 12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3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*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14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(5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*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16)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7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186690" indent="-173990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186690" algn="l"/>
              </a:tabLst>
            </a:pPr>
            <a:r>
              <a:rPr dirty="0" sz="1400">
                <a:latin typeface="Times New Roman"/>
                <a:cs typeface="Times New Roman"/>
              </a:rPr>
              <a:t>Write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algorithm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inserting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deleting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element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Stack</a:t>
            </a:r>
            <a:endParaRPr sz="1400">
              <a:latin typeface="Times New Roman"/>
              <a:cs typeface="Times New Roman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189865" algn="l"/>
              </a:tabLst>
            </a:pPr>
            <a:r>
              <a:rPr dirty="0" sz="1400">
                <a:latin typeface="Times New Roman"/>
                <a:cs typeface="Times New Roman"/>
              </a:rPr>
              <a:t>Define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Structures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.Explain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various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types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Structures</a:t>
            </a:r>
            <a:r>
              <a:rPr dirty="0" sz="1400" spc="2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detail.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r>
              <a:rPr dirty="0" spc="-5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504" y="116649"/>
            <a:ext cx="8929370" cy="810895"/>
          </a:xfrm>
          <a:custGeom>
            <a:avLst/>
            <a:gdLst/>
            <a:ahLst/>
            <a:cxnLst/>
            <a:rect l="l" t="t" r="r" b="b"/>
            <a:pathLst>
              <a:path w="8929370" h="810894">
                <a:moveTo>
                  <a:pt x="0" y="810577"/>
                </a:moveTo>
                <a:lnTo>
                  <a:pt x="8928989" y="810577"/>
                </a:lnTo>
                <a:lnTo>
                  <a:pt x="8928989" y="0"/>
                </a:lnTo>
                <a:lnTo>
                  <a:pt x="0" y="0"/>
                </a:lnTo>
                <a:lnTo>
                  <a:pt x="0" y="810577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0123" y="1052791"/>
            <a:ext cx="8929370" cy="5328920"/>
          </a:xfrm>
          <a:custGeom>
            <a:avLst/>
            <a:gdLst/>
            <a:ahLst/>
            <a:cxnLst/>
            <a:rect l="l" t="t" r="r" b="b"/>
            <a:pathLst>
              <a:path w="8929370" h="5328920">
                <a:moveTo>
                  <a:pt x="0" y="5328539"/>
                </a:moveTo>
                <a:lnTo>
                  <a:pt x="8928989" y="5328539"/>
                </a:lnTo>
                <a:lnTo>
                  <a:pt x="8928989" y="0"/>
                </a:lnTo>
                <a:lnTo>
                  <a:pt x="0" y="0"/>
                </a:lnTo>
                <a:lnTo>
                  <a:pt x="0" y="532853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68960" y="1016609"/>
            <a:ext cx="6390640" cy="441515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000" spc="-10" b="1">
                <a:latin typeface="Times New Roman"/>
                <a:cs typeface="Times New Roman"/>
              </a:rPr>
              <a:t>URL</a:t>
            </a:r>
            <a:r>
              <a:rPr dirty="0" sz="2000" spc="-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References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66700" algn="l"/>
              </a:tabLst>
            </a:pPr>
            <a:r>
              <a:rPr dirty="0" sz="2000" spc="-10">
                <a:latin typeface="Times New Roman"/>
                <a:cs typeface="Times New Roman"/>
              </a:rPr>
              <a:t>https://</a:t>
            </a:r>
            <a:r>
              <a:rPr dirty="0" sz="2000" spc="-10">
                <a:latin typeface="Times New Roman"/>
                <a:cs typeface="Times New Roman"/>
                <a:hlinkClick r:id="rId2"/>
              </a:rPr>
              <a:t>www.programiz.com/dsa/stack</a:t>
            </a:r>
            <a:endParaRPr sz="200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66700" algn="l"/>
              </a:tabLst>
            </a:pPr>
            <a:r>
              <a:rPr dirty="0" sz="2000" spc="-10">
                <a:latin typeface="Times New Roman"/>
                <a:cs typeface="Times New Roman"/>
              </a:rPr>
              <a:t>https://</a:t>
            </a:r>
            <a:r>
              <a:rPr dirty="0" sz="2000" spc="-10">
                <a:latin typeface="Times New Roman"/>
                <a:cs typeface="Times New Roman"/>
                <a:hlinkClick r:id="rId3"/>
              </a:rPr>
              <a:t>www.hackerearth.com/practice/data-structures/arrays</a:t>
            </a:r>
            <a:endParaRPr sz="200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66700" algn="l"/>
              </a:tabLst>
            </a:pPr>
            <a:r>
              <a:rPr dirty="0" sz="2000" spc="-10">
                <a:latin typeface="Times New Roman"/>
                <a:cs typeface="Times New Roman"/>
              </a:rPr>
              <a:t>https://</a:t>
            </a:r>
            <a:r>
              <a:rPr dirty="0" sz="2000" spc="-10">
                <a:latin typeface="Times New Roman"/>
                <a:cs typeface="Times New Roman"/>
                <a:hlinkClick r:id="rId4"/>
              </a:rPr>
              <a:t>www.tutorialspoint.com/data_structures_algorithms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Book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References:</a:t>
            </a:r>
            <a:endParaRPr sz="2000">
              <a:latin typeface="Times New Roman"/>
              <a:cs typeface="Times New Roman"/>
            </a:endParaRPr>
          </a:p>
          <a:p>
            <a:pPr lvl="1" marL="266700" indent="-2540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“Data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C”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Balagurusamy.</a:t>
            </a:r>
            <a:endParaRPr sz="2000">
              <a:latin typeface="Times New Roman"/>
              <a:cs typeface="Times New Roman"/>
            </a:endParaRPr>
          </a:p>
          <a:p>
            <a:pPr lvl="1" marL="266700" indent="-2540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“Fundamentals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C”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Horowitz,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Ellis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Times New Roman"/>
                <a:cs typeface="Times New Roman"/>
              </a:rPr>
              <a:t>Online</a:t>
            </a:r>
            <a:r>
              <a:rPr dirty="0" sz="2000" spc="-95" b="1">
                <a:latin typeface="Times New Roman"/>
                <a:cs typeface="Times New Roman"/>
              </a:rPr>
              <a:t> </a:t>
            </a:r>
            <a:r>
              <a:rPr dirty="0" sz="2000" spc="-30" b="1">
                <a:latin typeface="Times New Roman"/>
                <a:cs typeface="Times New Roman"/>
              </a:rPr>
              <a:t>Tool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Used</a:t>
            </a:r>
            <a:endParaRPr sz="2000">
              <a:latin typeface="Times New Roman"/>
              <a:cs typeface="Times New Roman"/>
            </a:endParaRPr>
          </a:p>
          <a:p>
            <a:pPr marL="281940" indent="-26924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AutoNum type="arabicPeriod"/>
              <a:tabLst>
                <a:tab pos="281940" algn="l"/>
              </a:tabLst>
            </a:pP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https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: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//quizizz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.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com/</a:t>
            </a:r>
            <a:endParaRPr sz="2000">
              <a:latin typeface="Times New Roman"/>
              <a:cs typeface="Times New Roman"/>
            </a:endParaRPr>
          </a:p>
          <a:p>
            <a:pPr marL="281940" indent="-26924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AutoNum type="arabicPeriod"/>
              <a:tabLst>
                <a:tab pos="281940" algn="l"/>
              </a:tabLst>
            </a:pP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https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: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//www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.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mentimeter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.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com/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r>
              <a:rPr dirty="0" spc="-5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2957" y="2586608"/>
            <a:ext cx="31242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C00000"/>
                </a:solidFill>
              </a:rPr>
              <a:t>THANK</a:t>
            </a:r>
            <a:r>
              <a:rPr dirty="0" sz="4000" spc="-240">
                <a:solidFill>
                  <a:srgbClr val="C00000"/>
                </a:solidFill>
              </a:rPr>
              <a:t> </a:t>
            </a:r>
            <a:r>
              <a:rPr dirty="0" sz="4000" spc="-25">
                <a:solidFill>
                  <a:srgbClr val="C00000"/>
                </a:solidFill>
              </a:rPr>
              <a:t>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title>PowerPoint Presentation</dc:title>
  <dcterms:created xsi:type="dcterms:W3CDTF">2026-05-20T09:59:56Z</dcterms:created>
  <dcterms:modified xsi:type="dcterms:W3CDTF">2026-05-20T09:59:56Z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2026-05-20T00:00:00Z</vt:filetime>
  </property>
  <property fmtid="{D5CDD505-2E9C-101B-9397-08002B2CF9AE}" pid="5" name="Producer">
    <vt:lpwstr>Microsoft® PowerPoint® 2010</vt:lpwstr>
  </property>
</Properties>
</file>